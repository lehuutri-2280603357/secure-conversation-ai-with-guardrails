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al Bold" panose="020B0704020202020204" pitchFamily="34" charset="0"/>
      <p:regular r:id="rId13"/>
      <p:bold r:id="rId14"/>
    </p:embeddedFont>
    <p:embeddedFont>
      <p:font typeface="Gotham" panose="02010600030101010101" charset="0"/>
      <p:regular r:id="rId15"/>
    </p:embeddedFont>
    <p:embeddedFont>
      <p:font typeface="Gotham Bold" panose="02010600030101010101" charset="0"/>
      <p:regular r:id="rId16"/>
    </p:embeddedFont>
    <p:embeddedFont>
      <p:font typeface="Gotham Bold Italics" panose="02010600030101010101" charset="0"/>
      <p:regular r:id="rId17"/>
    </p:embeddedFont>
    <p:embeddedFont>
      <p:font typeface="Poppins" panose="00000500000000000000" pitchFamily="2" charset="0"/>
      <p:regular r:id="rId18"/>
    </p:embeddedFont>
    <p:embeddedFont>
      <p:font typeface="等线" panose="02010600030101010101" pitchFamily="2" charset="-122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706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E45497-755B-42B7-A9A1-104AC762F1D3}" type="datetimeFigureOut">
              <a:rPr lang="zh-CN" altLang="en-US" smtClean="0"/>
              <a:t>2025/12/28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2E2BF-4A79-4F86-B0BB-374290AB9F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952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2E2BF-4A79-4F86-B0BB-374290AB9FE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50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928555" y="-353712"/>
            <a:ext cx="10994424" cy="1099442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857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26338" y="92583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6384897" y="5379918"/>
            <a:ext cx="6059445" cy="605944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720762" y="6964430"/>
            <a:ext cx="2000810" cy="4114800"/>
          </a:xfrm>
          <a:custGeom>
            <a:avLst/>
            <a:gdLst/>
            <a:ahLst/>
            <a:cxnLst/>
            <a:rect l="l" t="t" r="r" b="b"/>
            <a:pathLst>
              <a:path w="2000810" h="4114800">
                <a:moveTo>
                  <a:pt x="0" y="0"/>
                </a:moveTo>
                <a:lnTo>
                  <a:pt x="2000810" y="0"/>
                </a:lnTo>
                <a:lnTo>
                  <a:pt x="20008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204881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4366421" y="-107983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670667" y="3404463"/>
            <a:ext cx="13305524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1" dirty="0" err="1">
                <a:solidFill>
                  <a:srgbClr val="191919"/>
                </a:solidFill>
                <a:latin typeface="Arial Bold"/>
                <a:ea typeface="Arial Bold"/>
                <a:cs typeface="Arial Bold"/>
                <a:sym typeface="Arial Bold"/>
              </a:rPr>
              <a:t>Đề</a:t>
            </a:r>
            <a:r>
              <a:rPr lang="en-US" sz="4199" b="1" dirty="0">
                <a:solidFill>
                  <a:srgbClr val="191919"/>
                </a:solidFill>
                <a:latin typeface="Arial Bold"/>
                <a:ea typeface="Arial Bold"/>
                <a:cs typeface="Arial Bold"/>
                <a:sym typeface="Arial Bold"/>
              </a:rPr>
              <a:t> Tài: Secure Conversation AI with Guardrails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endParaRPr lang="en-US" sz="4199" b="1" dirty="0">
              <a:solidFill>
                <a:srgbClr val="191919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5849480" y="9918700"/>
            <a:ext cx="6151000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spc="1224" dirty="0">
                <a:solidFill>
                  <a:srgbClr val="191919"/>
                </a:solidFill>
                <a:latin typeface="Poppins"/>
                <a:ea typeface="Poppins"/>
                <a:cs typeface="Poppins"/>
                <a:sym typeface="Poppins"/>
              </a:rPr>
              <a:t>2025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-9492784" y="-353712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6126427" y="103627"/>
            <a:ext cx="4623618" cy="1696649"/>
          </a:xfrm>
          <a:custGeom>
            <a:avLst/>
            <a:gdLst/>
            <a:ahLst/>
            <a:cxnLst/>
            <a:rect l="l" t="t" r="r" b="b"/>
            <a:pathLst>
              <a:path w="4623618" h="1696649">
                <a:moveTo>
                  <a:pt x="0" y="0"/>
                </a:moveTo>
                <a:lnTo>
                  <a:pt x="4623618" y="0"/>
                </a:lnTo>
                <a:lnTo>
                  <a:pt x="4623618" y="1696649"/>
                </a:lnTo>
                <a:lnTo>
                  <a:pt x="0" y="16966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4191195" y="7503027"/>
            <a:ext cx="4037933" cy="800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4500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Lê Hữu Trí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339117" y="5964351"/>
            <a:ext cx="12198237" cy="90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191919"/>
                </a:solidFill>
                <a:latin typeface="Arial Bold"/>
                <a:ea typeface="Arial Bold"/>
                <a:cs typeface="Arial Bold"/>
                <a:sym typeface="Arial Bold"/>
              </a:rPr>
              <a:t>Thành </a:t>
            </a:r>
            <a:r>
              <a:rPr lang="en-US" sz="5199" b="1" dirty="0" err="1">
                <a:solidFill>
                  <a:srgbClr val="191919"/>
                </a:solidFill>
                <a:latin typeface="Arial Bold"/>
                <a:ea typeface="Arial Bold"/>
                <a:cs typeface="Arial Bold"/>
                <a:sym typeface="Arial Bold"/>
              </a:rPr>
              <a:t>viên</a:t>
            </a:r>
            <a:r>
              <a:rPr lang="en-US" sz="5199" b="1" dirty="0">
                <a:solidFill>
                  <a:srgbClr val="191919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299333" y="7503027"/>
            <a:ext cx="5463126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Trần</a:t>
            </a:r>
            <a:r>
              <a:rPr lang="en-US" sz="4500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Công Thịnh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491238" y="1575991"/>
            <a:ext cx="13305524" cy="1347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sz="7700" b="1">
                <a:solidFill>
                  <a:srgbClr val="191919"/>
                </a:solidFill>
                <a:latin typeface="Arial Bold"/>
                <a:ea typeface="Arial Bold"/>
                <a:cs typeface="Arial Bold"/>
                <a:sym typeface="Arial Bold"/>
              </a:rPr>
              <a:t>Đồ Án Chuyên Ngành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F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790788" y="-3327258"/>
            <a:ext cx="10994424" cy="1099442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4749686" y="389657"/>
            <a:ext cx="4755250" cy="123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39"/>
              </a:lnSpc>
            </a:pPr>
            <a:r>
              <a:rPr lang="en-US" sz="7099" b="1">
                <a:solidFill>
                  <a:srgbClr val="191919"/>
                </a:solidFill>
                <a:latin typeface="Arial Bold"/>
                <a:ea typeface="Arial Bold"/>
                <a:cs typeface="Arial Bold"/>
                <a:sym typeface="Arial Bold"/>
              </a:rPr>
              <a:t>Mục Tiêu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 rot="3945801">
            <a:off x="13158847" y="7893231"/>
            <a:ext cx="4776403" cy="4776403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Freeform 40"/>
          <p:cNvSpPr/>
          <p:nvPr/>
        </p:nvSpPr>
        <p:spPr>
          <a:xfrm rot="3945801">
            <a:off x="13402931" y="7023822"/>
            <a:ext cx="1577153" cy="3243522"/>
          </a:xfrm>
          <a:custGeom>
            <a:avLst/>
            <a:gdLst/>
            <a:ahLst/>
            <a:cxnLst/>
            <a:rect l="l" t="t" r="r" b="b"/>
            <a:pathLst>
              <a:path w="1577153" h="3243522">
                <a:moveTo>
                  <a:pt x="0" y="0"/>
                </a:moveTo>
                <a:lnTo>
                  <a:pt x="1577153" y="0"/>
                </a:lnTo>
                <a:lnTo>
                  <a:pt x="1577153" y="3243522"/>
                </a:lnTo>
                <a:lnTo>
                  <a:pt x="0" y="3243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204881"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2793238" y="2185062"/>
            <a:ext cx="9330860" cy="363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Wingdings" panose="05000000000000000000" pitchFamily="2" charset="2"/>
              <a:buChar char="l"/>
            </a:pP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Xây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dựng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hệ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thống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AI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trò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chuyện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an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toàn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với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Guardrails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có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khả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năng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lọc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kiểm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soát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đánh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giá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nội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dung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đầu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vào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đầu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ra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nhằm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đảm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bảo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phản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hồi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của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AI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luôn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minh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bạch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chính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xác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tuân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thủ</a:t>
            </a:r>
            <a:endParaRPr lang="en-US" sz="3399" dirty="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4759"/>
              </a:lnSpc>
            </a:pPr>
            <a:endParaRPr lang="en-US" sz="3399" dirty="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2793238" y="5301931"/>
            <a:ext cx="9330860" cy="4254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ts val="4759"/>
              </a:lnSpc>
              <a:buFont typeface="Wingdings" panose="05000000000000000000" pitchFamily="2" charset="2"/>
              <a:buChar char="l"/>
            </a:pP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Mục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tiêu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cụ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thể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của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đề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tài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là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nghiên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cứu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xây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dựng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cơ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chế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Guardrails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nhằm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kiểm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soát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nội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dung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trong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hệ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thống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AI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hội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thoại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đảm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bảo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các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phản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hồi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của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AI an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toàn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phù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hợp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đúng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ngữ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cảnh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zh-CN" alt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đồng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thời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ứng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dụng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hệ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thống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vào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thực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tế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để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nâng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cao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độ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tin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cậy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giảm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thiểu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rủi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ro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khi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sử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dụng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AI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hội</a:t>
            </a:r>
            <a:r>
              <a:rPr lang="en-US" sz="3399" dirty="0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rPr>
              <a:t>thoại</a:t>
            </a:r>
            <a:endParaRPr lang="en-US" sz="3399" dirty="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966046" y="-4992595"/>
            <a:ext cx="12753441" cy="1275344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61950" cap="sq">
              <a:solidFill>
                <a:srgbClr val="FD6220">
                  <a:alpha val="25882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9232C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3495059" y="393512"/>
            <a:ext cx="8011141" cy="1159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40"/>
              </a:lnSpc>
            </a:pPr>
            <a:r>
              <a:rPr lang="en-US" sz="710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Hướng</a:t>
            </a:r>
            <a:r>
              <a:rPr lang="en-US" sz="71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710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Giải</a:t>
            </a:r>
            <a:r>
              <a:rPr lang="en-US" sz="71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7100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Quyết</a:t>
            </a:r>
            <a:endParaRPr lang="en-US" sz="71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320333" y="3082627"/>
            <a:ext cx="10451929" cy="6716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1" lvl="1" indent="-367026" algn="just">
              <a:lnSpc>
                <a:spcPts val="4759"/>
              </a:lnSpc>
              <a:buFont typeface="Arial"/>
              <a:buChar char="•"/>
            </a:pP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Nghiên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cứu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mô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hình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hoạt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động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của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hệ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thống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AI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hội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thoại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rủi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liên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đến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nội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dung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toàn</a:t>
            </a:r>
            <a:endParaRPr lang="en-US" sz="33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34051" lvl="1" indent="-367026" algn="just">
              <a:lnSpc>
                <a:spcPts val="4759"/>
              </a:lnSpc>
              <a:buFont typeface="Arial"/>
              <a:buChar char="•"/>
            </a:pP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Xây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dựng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cơ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chế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Guardrails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để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kiểm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soát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dữ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liệu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đầu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vào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đầu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của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AI,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nhằm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phát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hiện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ngăn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chặn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nội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dung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phù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hợp</a:t>
            </a:r>
            <a:endParaRPr lang="en-US" sz="33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34051" lvl="1" indent="-367026" algn="just">
              <a:lnSpc>
                <a:spcPts val="4759"/>
              </a:lnSpc>
              <a:buFont typeface="Arial"/>
              <a:buChar char="•"/>
            </a:pP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Thiết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kế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kiến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trúc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hệ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thống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đảm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bảo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tính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bảo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mật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toàn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ổn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định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trong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quá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trình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hội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thoại</a:t>
            </a:r>
            <a:endParaRPr lang="en-US" sz="33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34051" lvl="1" indent="-367026" algn="just">
              <a:lnSpc>
                <a:spcPts val="4759"/>
              </a:lnSpc>
              <a:buFont typeface="Arial"/>
              <a:buChar char="•"/>
            </a:pP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Triển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khai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mô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hình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thử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nghiệm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đánh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giá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hiệu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quả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của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Guardrails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trong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việc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nâng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cao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độ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tin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cậy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của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AI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hội</a:t>
            </a:r>
            <a:r>
              <a:rPr lang="en-US" sz="33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thoại</a:t>
            </a:r>
            <a:endParaRPr lang="en-US" sz="33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9139238" y="4652327"/>
            <a:ext cx="95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2529574" y="2168526"/>
            <a:ext cx="10033448" cy="61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Đề tài được giải quyết theo các hướng chính sau: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9232C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6439471" y="8737362"/>
            <a:ext cx="3697059" cy="3697059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3288744" y="2254251"/>
            <a:ext cx="12915408" cy="6893599"/>
          </a:xfrm>
          <a:custGeom>
            <a:avLst/>
            <a:gdLst/>
            <a:ahLst/>
            <a:cxnLst/>
            <a:rect l="l" t="t" r="r" b="b"/>
            <a:pathLst>
              <a:path w="12915408" h="6893599">
                <a:moveTo>
                  <a:pt x="0" y="0"/>
                </a:moveTo>
                <a:lnTo>
                  <a:pt x="12915408" y="0"/>
                </a:lnTo>
                <a:lnTo>
                  <a:pt x="12915408" y="6893599"/>
                </a:lnTo>
                <a:lnTo>
                  <a:pt x="0" y="68935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6553200" y="151927"/>
            <a:ext cx="4827523" cy="24961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40"/>
              </a:lnSpc>
            </a:pPr>
            <a:r>
              <a:rPr lang="en-US" sz="71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Topology</a:t>
            </a:r>
          </a:p>
          <a:p>
            <a:pPr algn="ctr">
              <a:lnSpc>
                <a:spcPts val="9940"/>
              </a:lnSpc>
            </a:pPr>
            <a:endParaRPr lang="en-US" sz="7100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2731371" y="1947693"/>
            <a:ext cx="14527929" cy="8171960"/>
          </a:xfrm>
          <a:custGeom>
            <a:avLst/>
            <a:gdLst/>
            <a:ahLst/>
            <a:cxnLst/>
            <a:rect l="l" t="t" r="r" b="b"/>
            <a:pathLst>
              <a:path w="14527929" h="8171960">
                <a:moveTo>
                  <a:pt x="0" y="0"/>
                </a:moveTo>
                <a:lnTo>
                  <a:pt x="14527929" y="0"/>
                </a:lnTo>
                <a:lnTo>
                  <a:pt x="14527929" y="8171961"/>
                </a:lnTo>
                <a:lnTo>
                  <a:pt x="0" y="81719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2514473" y="591596"/>
            <a:ext cx="7234645" cy="1092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896"/>
              </a:lnSpc>
              <a:spcBef>
                <a:spcPct val="0"/>
              </a:spcBef>
            </a:pPr>
            <a:r>
              <a:rPr lang="en-US" sz="6354" b="1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Kết quả đạt được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2798606" y="1028700"/>
            <a:ext cx="13661344" cy="7684506"/>
          </a:xfrm>
          <a:custGeom>
            <a:avLst/>
            <a:gdLst/>
            <a:ahLst/>
            <a:cxnLst/>
            <a:rect l="l" t="t" r="r" b="b"/>
            <a:pathLst>
              <a:path w="13661344" h="7684506">
                <a:moveTo>
                  <a:pt x="0" y="0"/>
                </a:moveTo>
                <a:lnTo>
                  <a:pt x="13661344" y="0"/>
                </a:lnTo>
                <a:lnTo>
                  <a:pt x="13661344" y="7684506"/>
                </a:lnTo>
                <a:lnTo>
                  <a:pt x="0" y="76845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Freeform 35"/>
          <p:cNvSpPr/>
          <p:nvPr/>
        </p:nvSpPr>
        <p:spPr>
          <a:xfrm>
            <a:off x="2957166" y="1072560"/>
            <a:ext cx="13173842" cy="7410286"/>
          </a:xfrm>
          <a:custGeom>
            <a:avLst/>
            <a:gdLst/>
            <a:ahLst/>
            <a:cxnLst/>
            <a:rect l="l" t="t" r="r" b="b"/>
            <a:pathLst>
              <a:path w="13173842" h="7410286">
                <a:moveTo>
                  <a:pt x="0" y="0"/>
                </a:moveTo>
                <a:lnTo>
                  <a:pt x="13173841" y="0"/>
                </a:lnTo>
                <a:lnTo>
                  <a:pt x="13173841" y="7410286"/>
                </a:lnTo>
                <a:lnTo>
                  <a:pt x="0" y="74102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2653827" y="1492778"/>
            <a:ext cx="14225296" cy="8001729"/>
          </a:xfrm>
          <a:custGeom>
            <a:avLst/>
            <a:gdLst/>
            <a:ahLst/>
            <a:cxnLst/>
            <a:rect l="l" t="t" r="r" b="b"/>
            <a:pathLst>
              <a:path w="14225296" h="8001729">
                <a:moveTo>
                  <a:pt x="0" y="0"/>
                </a:moveTo>
                <a:lnTo>
                  <a:pt x="14225296" y="0"/>
                </a:lnTo>
                <a:lnTo>
                  <a:pt x="14225296" y="8001729"/>
                </a:lnTo>
                <a:lnTo>
                  <a:pt x="0" y="80017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6" name="Freeform 36"/>
          <p:cNvSpPr/>
          <p:nvPr/>
        </p:nvSpPr>
        <p:spPr>
          <a:xfrm>
            <a:off x="3092252" y="1555364"/>
            <a:ext cx="14078418" cy="7919110"/>
          </a:xfrm>
          <a:custGeom>
            <a:avLst/>
            <a:gdLst/>
            <a:ahLst/>
            <a:cxnLst/>
            <a:rect l="l" t="t" r="r" b="b"/>
            <a:pathLst>
              <a:path w="14078418" h="7919110">
                <a:moveTo>
                  <a:pt x="0" y="0"/>
                </a:moveTo>
                <a:lnTo>
                  <a:pt x="14078418" y="0"/>
                </a:lnTo>
                <a:lnTo>
                  <a:pt x="14078418" y="7919110"/>
                </a:lnTo>
                <a:lnTo>
                  <a:pt x="0" y="79191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73119" y="-1315898"/>
            <a:ext cx="3499668" cy="13405540"/>
            <a:chOff x="0" y="0"/>
            <a:chExt cx="212191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2191" cy="812800"/>
            </a:xfrm>
            <a:custGeom>
              <a:avLst/>
              <a:gdLst/>
              <a:ahLst/>
              <a:cxnLst/>
              <a:rect l="l" t="t" r="r" b="b"/>
              <a:pathLst>
                <a:path w="212191" h="812800">
                  <a:moveTo>
                    <a:pt x="106095" y="0"/>
                  </a:moveTo>
                  <a:cubicBezTo>
                    <a:pt x="47500" y="0"/>
                    <a:pt x="0" y="181951"/>
                    <a:pt x="0" y="406400"/>
                  </a:cubicBezTo>
                  <a:cubicBezTo>
                    <a:pt x="0" y="630849"/>
                    <a:pt x="47500" y="812800"/>
                    <a:pt x="106095" y="812800"/>
                  </a:cubicBezTo>
                  <a:cubicBezTo>
                    <a:pt x="164690" y="812800"/>
                    <a:pt x="212191" y="630849"/>
                    <a:pt x="212191" y="406400"/>
                  </a:cubicBezTo>
                  <a:cubicBezTo>
                    <a:pt x="212191" y="181951"/>
                    <a:pt x="164690" y="0"/>
                    <a:pt x="1060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9893" y="47625"/>
              <a:ext cx="172405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3306622" y="4867176"/>
            <a:ext cx="12299665" cy="826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71"/>
              </a:lnSpc>
            </a:pPr>
            <a:r>
              <a:rPr lang="en-US" sz="6561" b="1" i="1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Em xin cảm ơn quý thầy cô ạ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347</Words>
  <Application>Microsoft Office PowerPoint</Application>
  <PresentationFormat>自定义</PresentationFormat>
  <Paragraphs>100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Gotham</vt:lpstr>
      <vt:lpstr>Arial Bold</vt:lpstr>
      <vt:lpstr>等线</vt:lpstr>
      <vt:lpstr>Gotham Bold</vt:lpstr>
      <vt:lpstr>Gotham Bold Italics</vt:lpstr>
      <vt:lpstr>Calibri</vt:lpstr>
      <vt:lpstr>Poppins</vt:lpstr>
      <vt:lpstr>Arial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友智 黎</cp:lastModifiedBy>
  <cp:revision>10</cp:revision>
  <dcterms:created xsi:type="dcterms:W3CDTF">2006-08-16T00:00:00Z</dcterms:created>
  <dcterms:modified xsi:type="dcterms:W3CDTF">2025-12-28T02:53:04Z</dcterms:modified>
  <dc:identifier>DAG8h4_YX8M</dc:identifier>
</cp:coreProperties>
</file>